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9728" cy="3474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1024128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Segoe UI"/>
              </a:defRPr>
            </a:pPr>
            <a:r>
              <a:t>ENTERPRISE-GRADE AI • ZERO-TELEMETRY • FAST.AI &amp; ANSWER.AI STACK</a:t>
            </a:r>
          </a:p>
          <a:p>
            <a:pPr>
              <a:spcBef>
                <a:spcPts val="1200"/>
              </a:spcBef>
              <a:defRPr sz="3600" b="1">
                <a:solidFill>
                  <a:srgbClr val="F8FAFC"/>
                </a:solidFill>
                <a:latin typeface="Segoe UI"/>
              </a:defRPr>
            </a:pPr>
            <a:r>
              <a:t>Local Confidential RAG System</a:t>
            </a:r>
            <a:br/>
            <a:r>
              <a:t>&amp; Enterprise Chatbot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Hardware-optimized for Windows 11 (16 GB RAM) with FastHTML, MonsterUI, DuckDB Vector Store, Ollama, and FlashRank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303520"/>
            <a:ext cx="24688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44068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4D399"/>
                </a:solidFill>
                <a:latin typeface="Segoe UI"/>
              </a:defRPr>
            </a:pPr>
            <a:r>
              <a:t>100% Local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Zero Cloud Telemetry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Offline air-gapped security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7288" y="5303520"/>
            <a:ext cx="24688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0168" y="544068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16 GB RAM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Hardware Optimized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Single-process memory budget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6" y="5303520"/>
            <a:ext cx="24688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5936" y="544068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A78BFA"/>
                </a:solidFill>
                <a:latin typeface="Segoe UI"/>
              </a:defRPr>
            </a:pPr>
            <a:r>
              <a:t>Hybrid Search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Dense + BM25 + RRF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FlashRank re-ranking &lt;100MB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78824" y="5303520"/>
            <a:ext cx="24688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61704" y="544068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BBF24"/>
                </a:solidFill>
                <a:latin typeface="Segoe UI"/>
              </a:defRPr>
            </a:pPr>
            <a:r>
              <a:t>Multi-Source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Git, ADO, Confluence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AST chunking + True diff sync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Solving Enterprise AI Privacy on Constrained Workstations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Why traditional cloud RAG fails strict enterprise compliance and how local engineering bridges the gap.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B7185"/>
                </a:solidFill>
                <a:latin typeface="Segoe UI"/>
              </a:defRPr>
            </a:pPr>
            <a:r>
              <a:t>[CHALLENGE] Enterprise Pain Points &amp; Risks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Data Leakage via Cloud APIs:</a:t>
            </a:r>
            <a:r>
              <a:rPr>
                <a:solidFill>
                  <a:srgbClr val="94A3B8"/>
                </a:solidFill>
              </a:rPr>
              <a:t> Proprietary code, internal wikis, and sprint backlogs cannot be transmitted to external LLM providers.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Prohibitive GPU Infrastructure:</a:t>
            </a:r>
            <a:r>
              <a:rPr>
                <a:solidFill>
                  <a:srgbClr val="94A3B8"/>
                </a:solidFill>
              </a:rPr>
              <a:t> Dedicated cloud GPU instances (A100/H100) are expensive and create vendor lock-in.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RAM Exhaustion on Laptops:</a:t>
            </a:r>
            <a:r>
              <a:rPr>
                <a:solidFill>
                  <a:srgbClr val="94A3B8"/>
                </a:solidFill>
              </a:rPr>
              <a:t> Developers work on 16GB Windows 11 machines where standard multi-tier RAG stacks trigger OS paging.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Stale Data &amp; Hallucinations:</a:t>
            </a:r>
            <a:r>
              <a:rPr>
                <a:solidFill>
                  <a:srgbClr val="94A3B8"/>
                </a:solidFill>
              </a:rPr>
              <a:t> Naive chunking breaks code syntax and produces ungrounded citations without file line references.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API Rate Limits:</a:t>
            </a:r>
            <a:r>
              <a:rPr>
                <a:solidFill>
                  <a:srgbClr val="94A3B8"/>
                </a:solidFill>
              </a:rPr>
              <a:t> Scraping GitHub or Azure DevOps REST endpoints naively hits secondary rate limits and crashes pipelines.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Segoe UI"/>
              </a:defRPr>
            </a:pPr>
            <a:r>
              <a:t>[SOLUTION] The Local RAG Solution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Strict Air-Gapped Confidentiality:</a:t>
            </a:r>
            <a:r>
              <a:rPr>
                <a:solidFill>
                  <a:srgbClr val="94A3B8"/>
                </a:solidFill>
              </a:rPr>
              <a:t> Forced offline flags (HF_HUB_OFFLINE=1). Zero outbound network traffic; 100% embedded runtime.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Zero-Cost Local Inference:</a:t>
            </a:r>
            <a:r>
              <a:rPr>
                <a:solidFill>
                  <a:srgbClr val="94A3B8"/>
                </a:solidFill>
              </a:rPr>
              <a:t> Powered by Ollama (nomic-embed-text + Llama 3.1 8B / 3.2 3B) running completely on device.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Strict 16 GB Memory Budget:</a:t>
            </a:r>
            <a:r>
              <a:rPr>
                <a:solidFill>
                  <a:srgbClr val="94A3B8"/>
                </a:solidFill>
              </a:rPr>
              <a:t> Single-process FastHTML ASGI server with DuckDB bounded by PRAGMA max_memory='2GB'.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AST &amp; Hierarchy-Preserving Chunking:</a:t>
            </a:r>
            <a:r>
              <a:rPr>
                <a:solidFill>
                  <a:srgbClr val="94A3B8"/>
                </a:solidFill>
              </a:rPr>
              <a:t> Intelligently preserves Python class/function boundaries and Confluence breadcrumb context.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High-Throughput Ingestion:</a:t>
            </a:r>
            <a:r>
              <a:rPr>
                <a:solidFill>
                  <a:srgbClr val="94A3B8"/>
                </a:solidFill>
              </a:rPr>
              <a:t> Shallow git clone (--depth 1) avoids API quotas; true incremental git diffs prevent redundant 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ARCHITECTURE &amp;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Unified Single-Process ASGI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Built with the Fast.ai / Answer.ai ecosystem to maximize performance without multi-tier microservice overhead.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9260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[UI / UX] Presentation Layer (FastHTML)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FastHTML + MonsterUI:</a:t>
            </a:r>
            <a:r>
              <a:rPr>
                <a:solidFill>
                  <a:srgbClr val="94A3B8"/>
                </a:solidFill>
              </a:rPr>
              <a:t> Pure Python web application with Tailwind CSS and zero npm/Node build steps.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Single-Process ASGI:</a:t>
            </a:r>
            <a:r>
              <a:rPr>
                <a:solidFill>
                  <a:srgbClr val="94A3B8"/>
                </a:solidFill>
              </a:rPr>
              <a:t> Eliminates IPC latency and multi-container memory bloat entirely.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Server-Sent Events (SSE):</a:t>
            </a:r>
            <a:r>
              <a:rPr>
                <a:solidFill>
                  <a:srgbClr val="94A3B8"/>
                </a:solidFill>
              </a:rPr>
              <a:t> Real-time progress updates during multi-step repository ingestion.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Token-by-Token Streaming:</a:t>
            </a:r>
            <a:r>
              <a:rPr>
                <a:solidFill>
                  <a:srgbClr val="94A3B8"/>
                </a:solidFill>
              </a:rPr>
              <a:t> Interactive low-latency LLM responses directly to chat bubbles.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Collapsible Citation Drawer:</a:t>
            </a:r>
            <a:r>
              <a:rPr>
                <a:solidFill>
                  <a:srgbClr val="94A3B8"/>
                </a:solidFill>
              </a:rPr>
              <a:t> Grounded inspection of source files, line spans, and confidence scores.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9260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Segoe UI"/>
              </a:defRPr>
            </a:pPr>
            <a:r>
              <a:t>[STORAGE] Data &amp; Vector Store (DuckDB)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Embedded Vector DB:</a:t>
            </a:r>
            <a:r>
              <a:rPr>
                <a:solidFill>
                  <a:srgbClr val="94A3B8"/>
                </a:solidFill>
              </a:rPr>
              <a:t> Single store.duckdb file with zero external database daemon or port exposure.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Dense Cosine Vector Search:</a:t>
            </a:r>
            <a:r>
              <a:rPr>
                <a:solidFill>
                  <a:srgbClr val="94A3B8"/>
                </a:solidFill>
              </a:rPr>
              <a:t> Native array_cosine_similarity() over FLOAT[768] embeddings.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Sparse BM25 Keyword Search:</a:t>
            </a:r>
            <a:r>
              <a:rPr>
                <a:solidFill>
                  <a:srgbClr val="94A3B8"/>
                </a:solidFill>
              </a:rPr>
              <a:t> Built-in full-text search index for exact symbol and identifier lookups.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Thread-Safe Re-entrant Locking:</a:t>
            </a:r>
            <a:r>
              <a:rPr>
                <a:solidFill>
                  <a:srgbClr val="94A3B8"/>
                </a:solidFill>
              </a:rPr>
              <a:t> duckdb.PyConnection concurrency safely guarded by threading.RLock.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Memory Bounded:</a:t>
            </a:r>
            <a:r>
              <a:rPr>
                <a:solidFill>
                  <a:srgbClr val="94A3B8"/>
                </a:solidFill>
              </a:rPr>
              <a:t> Strict PRAGMA max_memory='2GB' keeps footprint predictable under heavy load.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828800"/>
            <a:ext cx="29260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A78BFA"/>
                </a:solidFill>
                <a:latin typeface="Segoe UI"/>
              </a:defRPr>
            </a:pPr>
            <a:r>
              <a:t>[INFERENCE] Local Inference (Ollama &amp; FlashRank)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Ollama Local Daemon:</a:t>
            </a:r>
            <a:r>
              <a:rPr>
                <a:solidFill>
                  <a:srgbClr val="94A3B8"/>
                </a:solidFill>
              </a:rPr>
              <a:t> Runs nomic-embed-text (768-dim) and llama3.1:8b via localhost HTTP API.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Adaptive Keep-Alive:</a:t>
            </a:r>
            <a:r>
              <a:rPr>
                <a:solidFill>
                  <a:srgbClr val="94A3B8"/>
                </a:solidFill>
              </a:rPr>
              <a:t> Models automatically unload from VRAM/RAM after 5 minutes of inactivity.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One-Click Low-RAM Mode:</a:t>
            </a:r>
            <a:r>
              <a:rPr>
                <a:solidFill>
                  <a:srgbClr val="94A3B8"/>
                </a:solidFill>
              </a:rPr>
              <a:t> Instant fallback to llama3.2:3b for resource-constrained machines.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FlashRank Re-ranking:</a:t>
            </a:r>
            <a:r>
              <a:rPr>
                <a:solidFill>
                  <a:srgbClr val="94A3B8"/>
                </a:solidFill>
              </a:rPr>
              <a:t> CPU-native ONNX MiniLM cross-encoder (&lt;100MB RAM) for precision filtering.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True Incremental Sync:</a:t>
            </a:r>
            <a:r>
              <a:rPr>
                <a:solidFill>
                  <a:srgbClr val="94A3B8"/>
                </a:solidFill>
              </a:rPr>
              <a:t> SHA-256 content hashing eliminates redundant embedding recalculation.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HARDWARE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Engineering for a 16 GB Windows 11 Workstation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Careful resource budgeting ensures smooth operation alongside IDEs, browsers, and developer tools.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16 GB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Host Physical RAM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Standard developer laptop target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7288" y="1645920"/>
            <a:ext cx="24688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0168" y="178308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4D399"/>
                </a:solidFill>
                <a:latin typeface="Segoe UI"/>
              </a:defRPr>
            </a:pPr>
            <a:r>
              <a:t>11.2 GB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Standard Peak RAM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Llama 3.1 8B (Q4_K_M)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1645920"/>
            <a:ext cx="24688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5936" y="178308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A78BFA"/>
                </a:solidFill>
                <a:latin typeface="Segoe UI"/>
              </a:defRPr>
            </a:pPr>
            <a:r>
              <a:t>8.2 GB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Low-RAM Peak RAM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Llama 3.2 3B fallback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78824" y="1645920"/>
            <a:ext cx="24688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61704" y="178308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BBF24"/>
                </a:solidFill>
                <a:latin typeface="Segoe UI"/>
              </a:defRPr>
            </a:pPr>
            <a:r>
              <a:t>4.8 - 7.8 GB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Safety Buffer Headroom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Prevents Windows OS disk paging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34640"/>
            <a:ext cx="10698480" cy="3474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971800"/>
            <a:ext cx="1024128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Segoe UI"/>
              </a:defRPr>
            </a:pPr>
            <a:r>
              <a:t>MEMORY ALLOCATION BREAKDOWN (STANDARD VS. LOW-RAM PROFILES)</a:t>
            </a:r>
          </a:p>
          <a:p>
            <a:pPr>
              <a:spcBef>
                <a:spcPts val="500"/>
              </a:spcBef>
              <a:defRPr sz="10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Windows 11 OS + Background Apps        </a:t>
            </a:r>
            <a:r>
              <a:rPr b="1">
                <a:solidFill>
                  <a:srgbClr val="38BDF8"/>
                </a:solidFill>
              </a:rPr>
              <a:t>[~4.5 - 5.5 GB]  </a:t>
            </a:r>
            <a:r>
              <a:rPr>
                <a:solidFill>
                  <a:srgbClr val="94A3B8"/>
                </a:solidFill>
              </a:rPr>
              <a:t>— Baseline operating system, background services, and IDE</a:t>
            </a:r>
          </a:p>
          <a:p>
            <a:pPr>
              <a:spcBef>
                <a:spcPts val="500"/>
              </a:spcBef>
              <a:defRPr sz="10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FastHTML + MonsterUI ASGI Process      </a:t>
            </a:r>
            <a:r>
              <a:rPr b="1">
                <a:solidFill>
                  <a:srgbClr val="38BDF8"/>
                </a:solidFill>
              </a:rPr>
              <a:t>[~150 - 250 MB]  </a:t>
            </a:r>
            <a:r>
              <a:rPr>
                <a:solidFill>
                  <a:srgbClr val="94A3B8"/>
                </a:solidFill>
              </a:rPr>
              <a:t>— Unified single-process Python web server (zero microservices)</a:t>
            </a:r>
          </a:p>
          <a:p>
            <a:pPr>
              <a:spcBef>
                <a:spcPts val="500"/>
              </a:spcBef>
              <a:defRPr sz="10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DuckDB Vector Database Store           </a:t>
            </a:r>
            <a:r>
              <a:rPr b="1">
                <a:solidFill>
                  <a:srgbClr val="38BDF8"/>
                </a:solidFill>
              </a:rPr>
              <a:t>[~150 - 300 MB]  </a:t>
            </a:r>
            <a:r>
              <a:rPr>
                <a:solidFill>
                  <a:srgbClr val="94A3B8"/>
                </a:solidFill>
              </a:rPr>
              <a:t>— Restricted to 2GB hard ceiling via PRAGMA max_memory</a:t>
            </a:r>
          </a:p>
          <a:p>
            <a:pPr>
              <a:spcBef>
                <a:spcPts val="500"/>
              </a:spcBef>
              <a:defRPr sz="10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FlashRank CPU Cross-Encoder            </a:t>
            </a:r>
            <a:r>
              <a:rPr b="1">
                <a:solidFill>
                  <a:srgbClr val="34D399"/>
                </a:solidFill>
              </a:rPr>
              <a:t>[~80 - 120 MB]  </a:t>
            </a:r>
            <a:r>
              <a:rPr>
                <a:solidFill>
                  <a:srgbClr val="94A3B8"/>
                </a:solidFill>
              </a:rPr>
              <a:t>— Ultra-lightweight ONNX runtime; sub-50ms CPU execution</a:t>
            </a:r>
          </a:p>
          <a:p>
            <a:pPr>
              <a:spcBef>
                <a:spcPts val="500"/>
              </a:spcBef>
              <a:defRPr sz="10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Ollama Embedding (nomic-embed-text)    </a:t>
            </a:r>
            <a:r>
              <a:rPr b="1">
                <a:solidFill>
                  <a:srgbClr val="38BDF8"/>
                </a:solidFill>
              </a:rPr>
              <a:t>[~350 - 450 MB]  </a:t>
            </a:r>
            <a:r>
              <a:rPr>
                <a:solidFill>
                  <a:srgbClr val="94A3B8"/>
                </a:solidFill>
              </a:rPr>
              <a:t>— Batched 16-chunk embedding passes; 768-dimension vectors</a:t>
            </a:r>
          </a:p>
          <a:p>
            <a:pPr>
              <a:spcBef>
                <a:spcPts val="500"/>
              </a:spcBef>
              <a:defRPr sz="10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Ollama LLM (llama3.1:8b Default)       </a:t>
            </a:r>
            <a:r>
              <a:rPr b="1">
                <a:solidFill>
                  <a:srgbClr val="38BDF8"/>
                </a:solidFill>
              </a:rPr>
              <a:t>[~5.0 - 5.5 GB]  </a:t>
            </a:r>
            <a:r>
              <a:rPr>
                <a:solidFill>
                  <a:srgbClr val="94A3B8"/>
                </a:solidFill>
              </a:rPr>
              <a:t>— Q4_K_M quantization; unloads after 5 min idle (keep_alive=5m)</a:t>
            </a:r>
          </a:p>
          <a:p>
            <a:pPr>
              <a:spcBef>
                <a:spcPts val="500"/>
              </a:spcBef>
              <a:defRPr sz="100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Ollama LLM (llama3.2:3b Low-RAM)       </a:t>
            </a:r>
            <a:r>
              <a:rPr b="1">
                <a:solidFill>
                  <a:srgbClr val="34D399"/>
                </a:solidFill>
              </a:rPr>
              <a:t>[~2.0 - 2.5 GB]  </a:t>
            </a:r>
            <a:r>
              <a:rPr>
                <a:solidFill>
                  <a:srgbClr val="94A3B8"/>
                </a:solidFill>
              </a:rPr>
              <a:t>— Active when LOW_RAM_MODE=true; preserves 7.8 GB OS headroom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DATA INGESTION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Enterprise Multi-Source Ingestion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Seamlessly connecting code repositories, project tracking systems, and team knowledge wikis.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9260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[GITHUB] GitHub Connector (ghapi + Git)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ghapi Integration:</a:t>
            </a:r>
            <a:r>
              <a:rPr>
                <a:solidFill>
                  <a:srgbClr val="94A3B8"/>
                </a:solidFill>
              </a:rPr>
              <a:t> Authenticated via GitHub PAT for issues, PRs, comments, and repository metadata.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Shallow Clone Optimization:</a:t>
            </a:r>
            <a:r>
              <a:rPr>
                <a:solidFill>
                  <a:srgbClr val="94A3B8"/>
                </a:solidFill>
              </a:rPr>
              <a:t> Executes git clone --depth 1 for source code to bypass rate limits entirely.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Language Filtering:</a:t>
            </a:r>
            <a:r>
              <a:rPr>
                <a:solidFill>
                  <a:srgbClr val="94A3B8"/>
                </a:solidFill>
              </a:rPr>
              <a:t> Selectively targets production source files (.py, .ts, .go, .cs, .java) while ignoring build bloat.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Commit Metadata Preservation:</a:t>
            </a:r>
            <a:r>
              <a:rPr>
                <a:solidFill>
                  <a:srgbClr val="94A3B8"/>
                </a:solidFill>
              </a:rPr>
              <a:t> Retains author, commit hash, and branch context in vector metadata.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Rate-Limit Defense:</a:t>
            </a:r>
            <a:r>
              <a:rPr>
                <a:solidFill>
                  <a:srgbClr val="94A3B8"/>
                </a:solidFill>
              </a:rPr>
              <a:t> Uses local git binary for heavy source pulls; saves GitHub API quota for tickets.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9260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Segoe UI"/>
              </a:defRPr>
            </a:pPr>
            <a:r>
              <a:t>[AZURE DEVOPS] Azure DevOps Connector (ADO REST)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Work Item Extraction:</a:t>
            </a:r>
            <a:r>
              <a:rPr>
                <a:solidFill>
                  <a:srgbClr val="94A3B8"/>
                </a:solidFill>
              </a:rPr>
              <a:t> Recursively pulls Epics, Features, User Stories, Bugs, and Tasks via REST API.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Sprint &amp; Iteration Mapping:</a:t>
            </a:r>
            <a:r>
              <a:rPr>
                <a:solidFill>
                  <a:srgbClr val="94A3B8"/>
                </a:solidFill>
              </a:rPr>
              <a:t> Captures iteration paths to enable sprint-filtered RAG queries.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Rich Discussion History:</a:t>
            </a:r>
            <a:r>
              <a:rPr>
                <a:solidFill>
                  <a:srgbClr val="94A3B8"/>
                </a:solidFill>
              </a:rPr>
              <a:t> Ingests acceptance criteria, system descriptions, and engineer comments.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ADO Git Repositories:</a:t>
            </a:r>
            <a:r>
              <a:rPr>
                <a:solidFill>
                  <a:srgbClr val="94A3B8"/>
                </a:solidFill>
              </a:rPr>
              <a:t> Direct git clone integration for Azure DevOps hosted git repositories.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Bi-directional Linking:</a:t>
            </a:r>
            <a:r>
              <a:rPr>
                <a:solidFill>
                  <a:srgbClr val="94A3B8"/>
                </a:solidFill>
              </a:rPr>
              <a:t> Connects commits to Work Item IDs for holistic codebase intelligence.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828800"/>
            <a:ext cx="29260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A78BFA"/>
                </a:solidFill>
                <a:latin typeface="Segoe UI"/>
              </a:defRPr>
            </a:pPr>
            <a:r>
              <a:t>[CONFLUENCE] Confluence Connector (toolslm)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REST API Space Ingestion:</a:t>
            </a:r>
            <a:r>
              <a:rPr>
                <a:solidFill>
                  <a:srgbClr val="94A3B8"/>
                </a:solidFill>
              </a:rPr>
              <a:t> Fetches Confluence spaces, page hierarchies, and documentation trees.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toolslm HTML-to-Markdown:</a:t>
            </a:r>
            <a:r>
              <a:rPr>
                <a:solidFill>
                  <a:srgbClr val="94A3B8"/>
                </a:solidFill>
              </a:rPr>
              <a:t> Cleans Confluence storage format into structured, standard Markdown.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Header Hierarchy Breadcrumbs:</a:t>
            </a:r>
            <a:r>
              <a:rPr>
                <a:solidFill>
                  <a:srgbClr val="94A3B8"/>
                </a:solidFill>
              </a:rPr>
              <a:t> Injects full document path (# Page &gt; ## Section &gt; ### Sub) into each chunk.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Table &amp; Macro Normalization:</a:t>
            </a:r>
            <a:r>
              <a:rPr>
                <a:solidFill>
                  <a:srgbClr val="94A3B8"/>
                </a:solidFill>
              </a:rPr>
              <a:t> Formats complex tables and code snippets for LLM readability.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Versioned Page Refresh:</a:t>
            </a:r>
            <a:r>
              <a:rPr>
                <a:solidFill>
                  <a:srgbClr val="94A3B8"/>
                </a:solidFill>
              </a:rPr>
              <a:t> Purges obsolete page chunks automatically when newer revisions are indexed.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CHUNKING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Language-Aware &amp; Hierarchy-Preserving Chunking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Moving beyond arbitrary character splits to preserve semantic integrity and structural context.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6636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0916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[SOURCE CODE] AST Code Chunking (Python, TypeScript, Go, C#)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Python AST Parsing:</a:t>
            </a:r>
            <a:r>
              <a:rPr>
                <a:solidFill>
                  <a:srgbClr val="94A3B8"/>
                </a:solidFill>
              </a:rPr>
              <a:t> Traverses Python Abstract Syntax Trees to extract functions and classes intact.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Decorator &amp; Signature Integrity:</a:t>
            </a:r>
            <a:r>
              <a:rPr>
                <a:solidFill>
                  <a:srgbClr val="94A3B8"/>
                </a:solidFill>
              </a:rPr>
              <a:t> Preserves docstrings, type annotations, arguments, and decorators with bodies.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Context Headers:</a:t>
            </a:r>
            <a:r>
              <a:rPr>
                <a:solidFill>
                  <a:srgbClr val="94A3B8"/>
                </a:solidFill>
              </a:rPr>
              <a:t> Every chunk is prefixed with module name, class hierarchy, and signature context.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Token Budget Enforcement:</a:t>
            </a:r>
            <a:r>
              <a:rPr>
                <a:solidFill>
                  <a:srgbClr val="94A3B8"/>
                </a:solidFill>
              </a:rPr>
              <a:t> Uses tiktoken to balance chunk sizes (500-1000 tokens) with 10% overlap.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Cross-Language Fallback:</a:t>
            </a:r>
            <a:r>
              <a:rPr>
                <a:solidFill>
                  <a:srgbClr val="94A3B8"/>
                </a:solidFill>
              </a:rPr>
              <a:t> Structural line/block splitter for TypeScript, Java, Go, and C# maintaining curly-brace scope.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Impact:</a:t>
            </a:r>
            <a:r>
              <a:rPr>
                <a:solidFill>
                  <a:srgbClr val="94A3B8"/>
                </a:solidFill>
              </a:rPr>
              <a:t> Vector searches match exact function definitions rather than fragmented code snippets.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45920"/>
            <a:ext cx="516636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70916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Segoe UI"/>
              </a:defRPr>
            </a:pPr>
            <a:r>
              <a:t>[DOCUMENTATION &amp; TICKETS] Hierarchical Markdown &amp; Documentation Chunking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Section Breadcrumb Injection:</a:t>
            </a:r>
            <a:r>
              <a:rPr>
                <a:solidFill>
                  <a:srgbClr val="94A3B8"/>
                </a:solidFill>
              </a:rPr>
              <a:t> Captures heading levels (# H1 -&gt; ## H2 -&gt; ### H3) and injects breadcrumbs into text.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No Orphaned Paragraphs:</a:t>
            </a:r>
            <a:r>
              <a:rPr>
                <a:solidFill>
                  <a:srgbClr val="94A3B8"/>
                </a:solidFill>
              </a:rPr>
              <a:t> Deeply nested explanations always know which parent feature and document they belong to.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Table Preservation:</a:t>
            </a:r>
            <a:r>
              <a:rPr>
                <a:solidFill>
                  <a:srgbClr val="94A3B8"/>
                </a:solidFill>
              </a:rPr>
              <a:t> Markdown tables are maintained as atomic units to avoid corrupting tabular data.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ADO Ticket Packaging:</a:t>
            </a:r>
            <a:r>
              <a:rPr>
                <a:solidFill>
                  <a:srgbClr val="94A3B8"/>
                </a:solidFill>
              </a:rPr>
              <a:t> Consolidates Title, Type, Status, Sprint, Description, and Discussion into a unified card chunk.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Metadata Enrichment:</a:t>
            </a:r>
            <a:r>
              <a:rPr>
                <a:solidFill>
                  <a:srgbClr val="94A3B8"/>
                </a:solidFill>
              </a:rPr>
              <a:t> Every chunk tags source_type, file_path, line_start, line_end, and item_id.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Impact:</a:t>
            </a:r>
            <a:r>
              <a:rPr>
                <a:solidFill>
                  <a:srgbClr val="94A3B8"/>
                </a:solidFill>
              </a:rPr>
              <a:t> LLM produces grounded answers with pinpoint file paths and line ranges.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INCREMENTAL SYNC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Zero-Redundancy Synchronization &amp; Deduplication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Intelligent delta indexing eliminates redundant embedding passes, speeding up updates by 10x.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9260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[GIT DIFFS] Git Diff Ingestion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Local git pull Analysis:</a:t>
            </a:r>
            <a:r>
              <a:rPr>
                <a:solidFill>
                  <a:srgbClr val="94A3B8"/>
                </a:solidFill>
              </a:rPr>
              <a:t> Ingestion runs git diff --name-status old_head new_head on existing clones.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Selective Processing:</a:t>
            </a:r>
            <a:r>
              <a:rPr>
                <a:solidFill>
                  <a:srgbClr val="94A3B8"/>
                </a:solidFill>
              </a:rPr>
              <a:t> Only parses Added (A) and Modified (M) files; ignores untouched trees.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Deleted File Detection:</a:t>
            </a:r>
            <a:r>
              <a:rPr>
                <a:solidFill>
                  <a:srgbClr val="94A3B8"/>
                </a:solidFill>
              </a:rPr>
              <a:t> Flags Deleted (D) files for immediate vector database cleanup.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High Efficiency:</a:t>
            </a:r>
            <a:r>
              <a:rPr>
                <a:solidFill>
                  <a:srgbClr val="94A3B8"/>
                </a:solidFill>
              </a:rPr>
              <a:t> 10,000-file repository updates in seconds instead of re-indexing from scratch.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Network Friendly:</a:t>
            </a:r>
            <a:r>
              <a:rPr>
                <a:solidFill>
                  <a:srgbClr val="94A3B8"/>
                </a:solidFill>
              </a:rPr>
              <a:t> Pulls only delta git commits over the wire.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9260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Segoe UI"/>
              </a:defRPr>
            </a:pPr>
            <a:r>
              <a:t>[STALE PURGING] Stale Chunk Auto-Purging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Document-Level Invalidation:</a:t>
            </a:r>
            <a:r>
              <a:rPr>
                <a:solidFill>
                  <a:srgbClr val="94A3B8"/>
                </a:solidFill>
              </a:rPr>
              <a:t> Modifying or deleting a file executes delete_documents_by_file().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Zero Ghost Results:</a:t>
            </a:r>
            <a:r>
              <a:rPr>
                <a:solidFill>
                  <a:srgbClr val="94A3B8"/>
                </a:solidFill>
              </a:rPr>
              <a:t> Completely eliminates phantom chunks from deleted files or renamed methods.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Work Item Sync:</a:t>
            </a:r>
            <a:r>
              <a:rPr>
                <a:solidFill>
                  <a:srgbClr val="94A3B8"/>
                </a:solidFill>
              </a:rPr>
              <a:t> Updating an ADO ticket purges earlier versions via delete_documents_by_work_item().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Confluence Refresh:</a:t>
            </a:r>
            <a:r>
              <a:rPr>
                <a:solidFill>
                  <a:srgbClr val="94A3B8"/>
                </a:solidFill>
              </a:rPr>
              <a:t> Page updates cleanly replace old section chunks without duplicates.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Database Hygiene:</a:t>
            </a:r>
            <a:r>
              <a:rPr>
                <a:solidFill>
                  <a:srgbClr val="94A3B8"/>
                </a:solidFill>
              </a:rPr>
              <a:t> Keeps vector index compact and prevents search result pollution.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828800"/>
            <a:ext cx="29260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Segoe UI"/>
              </a:defRPr>
            </a:pPr>
            <a:r>
              <a:t>[SHA-256 CACHE] SHA-256 Chunk Deduplication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Deterministic Hashing:</a:t>
            </a:r>
            <a:r>
              <a:rPr>
                <a:solidFill>
                  <a:srgbClr val="94A3B8"/>
                </a:solidFill>
              </a:rPr>
              <a:t> Calculates SHA-256 hash over chunk text content before embedding.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Deduplication Lookup:</a:t>
            </a:r>
            <a:r>
              <a:rPr>
                <a:solidFill>
                  <a:srgbClr val="94A3B8"/>
                </a:solidFill>
              </a:rPr>
              <a:t> Compares hash against existing chunk table in DuckDB.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Skip Embedding API:</a:t>
            </a:r>
            <a:r>
              <a:rPr>
                <a:solidFill>
                  <a:srgbClr val="94A3B8"/>
                </a:solidFill>
              </a:rPr>
              <a:t> If content hash already exists, Ollama embedding call is skipped.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Massive CPU/RAM Savings:</a:t>
            </a:r>
            <a:r>
              <a:rPr>
                <a:solidFill>
                  <a:srgbClr val="94A3B8"/>
                </a:solidFill>
              </a:rPr>
              <a:t> Saves 95%+ of compute during minor documentation and code refactors.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Fast Re-indexing:</a:t>
            </a:r>
            <a:r>
              <a:rPr>
                <a:solidFill>
                  <a:srgbClr val="94A3B8"/>
                </a:solidFill>
              </a:rPr>
              <a:t> Incremental sweeps finish in under 3 seconds when files have minor edits.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RETRIEVAL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Hybrid Dense-Sparse Search with Reciprocal Rank 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Combining semantic understanding with exact lexical matching for superior retrieval accuracy.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10241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RECIPROCAL RANK FUSION (RRF) MATHEMATICAL MODEL (k = 60)</a:t>
            </a:r>
          </a:p>
          <a:p>
            <a:pPr>
              <a:spcBef>
                <a:spcPts val="400"/>
              </a:spcBef>
              <a:defRPr sz="1600" b="1">
                <a:solidFill>
                  <a:srgbClr val="34D399"/>
                </a:solidFill>
                <a:latin typeface="Segoe UI"/>
              </a:defRPr>
            </a:pPr>
            <a:r>
              <a:t>RRF_Score(d) = (1 / (60 + Dense_Rank(d))) + (1 / (60 + BM25_Rank(d)))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3383280" cy="3383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108960"/>
            <a:ext cx="292608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[DENSE] Dense Semantic Retrieval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Model:</a:t>
            </a:r>
            <a:r>
              <a:rPr>
                <a:solidFill>
                  <a:srgbClr val="94A3B8"/>
                </a:solidFill>
              </a:rPr>
              <a:t> nomic-embed-text generates 768-dimensional float vectors.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Execution:</a:t>
            </a:r>
            <a:r>
              <a:rPr>
                <a:solidFill>
                  <a:srgbClr val="94A3B8"/>
                </a:solidFill>
              </a:rPr>
              <a:t> DuckDB array_cosine_similarity() calculates cosine angle.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Strength:</a:t>
            </a:r>
            <a:r>
              <a:rPr>
                <a:solidFill>
                  <a:srgbClr val="94A3B8"/>
                </a:solidFill>
              </a:rPr>
              <a:t> Understands conceptual synonyms (e.g., 'auth' -&gt; 'login flow').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Top-K Selection:</a:t>
            </a:r>
            <a:r>
              <a:rPr>
                <a:solidFill>
                  <a:srgbClr val="94A3B8"/>
                </a:solidFill>
              </a:rPr>
              <a:t> Retrieves top 20 candidates based on vector similarity.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926080"/>
            <a:ext cx="3383280" cy="3383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3108960"/>
            <a:ext cx="292608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Segoe UI"/>
              </a:defRPr>
            </a:pPr>
            <a:r>
              <a:t>[SPARSE] Sparse BM25 Keyword Search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Index:</a:t>
            </a:r>
            <a:r>
              <a:rPr>
                <a:solidFill>
                  <a:srgbClr val="94A3B8"/>
                </a:solidFill>
              </a:rPr>
              <a:t> DuckDB Full-Text Search (FTS) extension with BM25 scoring.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Execution:</a:t>
            </a:r>
            <a:r>
              <a:rPr>
                <a:solidFill>
                  <a:srgbClr val="94A3B8"/>
                </a:solidFill>
              </a:rPr>
              <a:t> Tokenized keyword inverted index with IDF term weighting.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Strength:</a:t>
            </a:r>
            <a:r>
              <a:rPr>
                <a:solidFill>
                  <a:srgbClr val="94A3B8"/>
                </a:solidFill>
              </a:rPr>
              <a:t> Matches exact function names, variable IDs, error codes, and tickets.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Top-K Selection:</a:t>
            </a:r>
            <a:r>
              <a:rPr>
                <a:solidFill>
                  <a:srgbClr val="94A3B8"/>
                </a:solidFill>
              </a:rPr>
              <a:t> Retrieves top 20 exact and fuzzy lexical candidates.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926080"/>
            <a:ext cx="3383280" cy="3383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3108960"/>
            <a:ext cx="292608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A78BFA"/>
                </a:solidFill>
                <a:latin typeface="Segoe UI"/>
              </a:defRPr>
            </a:pPr>
            <a:r>
              <a:t>[FUSION] Fused Ensemble Ranking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Robust Normalization:</a:t>
            </a:r>
            <a:r>
              <a:rPr>
                <a:solidFill>
                  <a:srgbClr val="94A3B8"/>
                </a:solidFill>
              </a:rPr>
              <a:t> Avoids score scale mismatch between cosine and BM25.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Rank-Based Merging:</a:t>
            </a:r>
            <a:r>
              <a:rPr>
                <a:solidFill>
                  <a:srgbClr val="94A3B8"/>
                </a:solidFill>
              </a:rPr>
              <a:t> Prioritizes chunks ranked highly by both strategies.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Filter Pushdown:</a:t>
            </a:r>
            <a:r>
              <a:rPr>
                <a:solidFill>
                  <a:srgbClr val="94A3B8"/>
                </a:solidFill>
              </a:rPr>
              <a:t> Seamlessly applies repository, language, and sprint filters.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Candidate Pool:</a:t>
            </a:r>
            <a:r>
              <a:rPr>
                <a:solidFill>
                  <a:srgbClr val="94A3B8"/>
                </a:solidFill>
              </a:rPr>
              <a:t> Delivers top 20 merged candidates to FlashRank re-ranker.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RE-RANKING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FlashRank: Ultra-Lightweight Cross-Encoder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Enhancing precision with sub-100MB CPU inference before prompt construction.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6636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0916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[ONNX CROSS-ENCODER] FlashRank Cross-Encoder Architecture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Lightweight ONNX Runtime:</a:t>
            </a:r>
            <a:r>
              <a:rPr>
                <a:solidFill>
                  <a:srgbClr val="94A3B8"/>
                </a:solidFill>
              </a:rPr>
              <a:t> Runs quantized MiniLM cross-encoder model on CPU without CUDA dependencies.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Negligible RAM Footprint:</a:t>
            </a:r>
            <a:r>
              <a:rPr>
                <a:solidFill>
                  <a:srgbClr val="94A3B8"/>
                </a:solidFill>
              </a:rPr>
              <a:t> Operates in under 100 MB RAM, fitting comfortably inside our 16GB budget.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Sub-50ms Scoring Latency:</a:t>
            </a:r>
            <a:r>
              <a:rPr>
                <a:solidFill>
                  <a:srgbClr val="94A3B8"/>
                </a:solidFill>
              </a:rPr>
              <a:t> Scores 20 candidate chunks in 35-50ms on standard Intel/AMD laptop CPUs.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True Joint Attention:</a:t>
            </a:r>
            <a:r>
              <a:rPr>
                <a:solidFill>
                  <a:srgbClr val="94A3B8"/>
                </a:solidFill>
              </a:rPr>
              <a:t> Cross-encoder attends simultaneously to query tokens and document tokens.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Precision Filtering:</a:t>
            </a:r>
            <a:r>
              <a:rPr>
                <a:solidFill>
                  <a:srgbClr val="94A3B8"/>
                </a:solidFill>
              </a:rPr>
              <a:t> Discards irrelevant chunks scoring below calibrated relevance threshold.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Final Context Packing:</a:t>
            </a:r>
            <a:r>
              <a:rPr>
                <a:solidFill>
                  <a:srgbClr val="94A3B8"/>
                </a:solidFill>
              </a:rPr>
              <a:t> Selects top 5 most relevant chunks to fit LLM prompt window precisely.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45920"/>
            <a:ext cx="516636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70916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Segoe UI"/>
              </a:defRPr>
            </a:pPr>
            <a:r>
              <a:t>[BENCHMARKS] Why FlashRank Beats Heavy Alternates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vs. Cohere / Cloud APIs:</a:t>
            </a:r>
            <a:r>
              <a:rPr>
                <a:solidFill>
                  <a:srgbClr val="94A3B8"/>
                </a:solidFill>
              </a:rPr>
              <a:t> 100% offline, zero API latency, zero telemetry, zero ongoing subscription cost.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vs. BGE-Reranker-Large (PyTorch):</a:t>
            </a:r>
            <a:r>
              <a:rPr>
                <a:solidFill>
                  <a:srgbClr val="94A3B8"/>
                </a:solidFill>
              </a:rPr>
              <a:t> PyTorch requires 1.5 - 2.5 GB VRAM/RAM; FlashRank requires only 85 MB.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vs. No Re-ranking:</a:t>
            </a:r>
            <a:r>
              <a:rPr>
                <a:solidFill>
                  <a:srgbClr val="94A3B8"/>
                </a:solidFill>
              </a:rPr>
              <a:t> Reduces noisy or irrelevant context by 65%, eliminating LLM distraction.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Hallucination Suppression:</a:t>
            </a:r>
            <a:r>
              <a:rPr>
                <a:solidFill>
                  <a:srgbClr val="94A3B8"/>
                </a:solidFill>
              </a:rPr>
              <a:t> Only high-confidence chunks reach the final prompt context.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CPU Optimized:</a:t>
            </a:r>
            <a:r>
              <a:rPr>
                <a:solidFill>
                  <a:srgbClr val="94A3B8"/>
                </a:solidFill>
              </a:rPr>
              <a:t> Leaves GPU and VRAM completely free for Ollama LLM generation.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Production Verified:</a:t>
            </a:r>
            <a:r>
              <a:rPr>
                <a:solidFill>
                  <a:srgbClr val="94A3B8"/>
                </a:solidFill>
              </a:rPr>
              <a:t> Integrated into hybrid pipeline with automatic unit test verification.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GROUNDED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Strict Attribution &amp; Anti-Hallucination Prompting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Ensuring every claim is anchored to verifiable source code, tickets, or documentation.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6636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0916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[GUARDRAILS] Anti-Hallucination Guardrails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Strict System Prompting:</a:t>
            </a:r>
            <a:r>
              <a:rPr>
                <a:solidFill>
                  <a:srgbClr val="94A3B8"/>
                </a:solidFill>
              </a:rPr>
              <a:t> Explicitly instructs the LLM to admit when context is insufficient.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Context Isolation:</a:t>
            </a:r>
            <a:r>
              <a:rPr>
                <a:solidFill>
                  <a:srgbClr val="94A3B8"/>
                </a:solidFill>
              </a:rPr>
              <a:t> Model is restricted to provided chunks; speculative extrapolation is penalized.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Explicit Citation Syntax:</a:t>
            </a:r>
            <a:r>
              <a:rPr>
                <a:solidFill>
                  <a:srgbClr val="94A3B8"/>
                </a:solidFill>
              </a:rPr>
              <a:t> Every response references sources using structured tags: [Source: file.py#L45-L60].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Dual-Model Support:</a:t>
            </a:r>
            <a:r>
              <a:rPr>
                <a:solidFill>
                  <a:srgbClr val="94A3B8"/>
                </a:solidFill>
              </a:rPr>
              <a:t> Standard mode uses Llama 3.1 8B; Low-RAM mode uses Llama 3.2 3B.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Zero Cloud Leaks:</a:t>
            </a:r>
            <a:r>
              <a:rPr>
                <a:solidFill>
                  <a:srgbClr val="94A3B8"/>
                </a:solidFill>
              </a:rPr>
              <a:t> Embeddings, retrieval, re-ranking, and text generation all occur on 127.0.0.1.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Reproducible Outputs:</a:t>
            </a:r>
            <a:r>
              <a:rPr>
                <a:solidFill>
                  <a:srgbClr val="94A3B8"/>
                </a:solidFill>
              </a:rPr>
              <a:t> Deterministic temperature (0.1) ensures factual, consistent answers.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45920"/>
            <a:ext cx="516636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70916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Segoe UI"/>
              </a:defRPr>
            </a:pPr>
            <a:r>
              <a:t>[CITATION DRAWER] MonsterUI Collapsible Citation Drawer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Interactive Citation Badges:</a:t>
            </a:r>
            <a:r>
              <a:rPr>
                <a:solidFill>
                  <a:srgbClr val="94A3B8"/>
                </a:solidFill>
              </a:rPr>
              <a:t> Rendered alongside chatbot responses with clickable source pills.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Collapsible Detail View:</a:t>
            </a:r>
            <a:r>
              <a:rPr>
                <a:solidFill>
                  <a:srgbClr val="94A3B8"/>
                </a:solidFill>
              </a:rPr>
              <a:t> Clicking a citation expands full chunk text without navigating away.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Pinpoint Location Data:</a:t>
            </a:r>
            <a:r>
              <a:rPr>
                <a:solidFill>
                  <a:srgbClr val="94A3B8"/>
                </a:solidFill>
              </a:rPr>
              <a:t> Displays exact file paths, line ranges (#L12-L45), or Work Item IDs.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Confidence &amp; Relevance Scores:</a:t>
            </a:r>
            <a:r>
              <a:rPr>
                <a:solidFill>
                  <a:srgbClr val="94A3B8"/>
                </a:solidFill>
              </a:rPr>
              <a:t> Shows re-ranked similarity score for complete auditability.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Direct Copy &amp; Jump:</a:t>
            </a:r>
            <a:r>
              <a:rPr>
                <a:solidFill>
                  <a:srgbClr val="94A3B8"/>
                </a:solidFill>
              </a:rPr>
              <a:t> One-click copy for code snippets and file paths directly to IDE.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Enterprise Compliance:</a:t>
            </a:r>
            <a:r>
              <a:rPr>
                <a:solidFill>
                  <a:srgbClr val="94A3B8"/>
                </a:solidFill>
              </a:rPr>
              <a:t> Fully auditable answers meet internal IT and security verification standards.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CHAT PERSISTENCE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Persistent Multi-Session Chat &amp; State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Resumable conversations, sliding-window RAG context, and inline message management.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9260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[DATA MODEL] DuckDB Chat Schema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Table:</a:t>
            </a:r>
            <a:r>
              <a:rPr>
                <a:solidFill>
                  <a:srgbClr val="94A3B8"/>
                </a:solidFill>
              </a:rPr>
              <a:t> chats: Stores id (UUID), title, created_at, and updated_at timestamps.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Table:</a:t>
            </a:r>
            <a:r>
              <a:rPr>
                <a:solidFill>
                  <a:srgbClr val="94A3B8"/>
                </a:solidFill>
              </a:rPr>
              <a:t> chat_messages: Stores id, chat_id, role, content, sources_json, and timestamp.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Foreign Key Relational Cascade:</a:t>
            </a:r>
            <a:r>
              <a:rPr>
                <a:solidFill>
                  <a:srgbClr val="94A3B8"/>
                </a:solidFill>
              </a:rPr>
              <a:t> Deleting a chat thread cleanly deletes all child messages.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Thread-Safe Concurrency:</a:t>
            </a:r>
            <a:r>
              <a:rPr>
                <a:solidFill>
                  <a:srgbClr val="94A3B8"/>
                </a:solidFill>
              </a:rPr>
              <a:t> Protected by DuckDBStore RLock across async FastHTML route handlers.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Local Persistence:</a:t>
            </a:r>
            <a:r>
              <a:rPr>
                <a:solidFill>
                  <a:srgbClr val="94A3B8"/>
                </a:solidFill>
              </a:rPr>
              <a:t> All conversations saved across server restarts in local store.duckdb.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9260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Segoe UI"/>
              </a:defRPr>
            </a:pPr>
            <a:r>
              <a:t>[CONTEXT ENGINE] Sliding-Window Context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10-Turn History Window:</a:t>
            </a:r>
            <a:r>
              <a:rPr>
                <a:solidFill>
                  <a:srgbClr val="94A3B8"/>
                </a:solidFill>
              </a:rPr>
              <a:t> Injects recent conversation context into LLM prompt for coherent follow-ups.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Token Budget Conservation:</a:t>
            </a:r>
            <a:r>
              <a:rPr>
                <a:solidFill>
                  <a:srgbClr val="94A3B8"/>
                </a:solidFill>
              </a:rPr>
              <a:t> Automatically trims older turns to keep prompt within context budget.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Follow-Up Awareness:</a:t>
            </a:r>
            <a:r>
              <a:rPr>
                <a:solidFill>
                  <a:srgbClr val="94A3B8"/>
                </a:solidFill>
              </a:rPr>
              <a:t> Allows natural pronouns ('how do I test it?') resolved against earlier turns.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Grounded Continuity:</a:t>
            </a:r>
            <a:r>
              <a:rPr>
                <a:solidFill>
                  <a:srgbClr val="94A3B8"/>
                </a:solidFill>
              </a:rPr>
              <a:t> Prior citations remain accessible while new queries retrieve fresh context.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Zero History Bleed:</a:t>
            </a:r>
            <a:r>
              <a:rPr>
                <a:solidFill>
                  <a:srgbClr val="94A3B8"/>
                </a:solidFill>
              </a:rPr>
              <a:t> Each chat thread is strictly isolated by unique session identifier.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828800"/>
            <a:ext cx="29260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A78BFA"/>
                </a:solidFill>
                <a:latin typeface="Segoe UI"/>
              </a:defRPr>
            </a:pPr>
            <a:r>
              <a:t>[USER CONTROLS] Interactive UI Controls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Multi-Session Sidebar:</a:t>
            </a:r>
            <a:r>
              <a:rPr>
                <a:solidFill>
                  <a:srgbClr val="94A3B8"/>
                </a:solidFill>
              </a:rPr>
              <a:t> Switch between past conversations with relative time tags (e.g. '5m ago').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+ New Chat Button:</a:t>
            </a:r>
            <a:r>
              <a:rPr>
                <a:solidFill>
                  <a:srgbClr val="94A3B8"/>
                </a:solidFill>
              </a:rPr>
              <a:t> Instantly starts a fresh session without reloading the page.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Inline Message Edit:</a:t>
            </a:r>
            <a:r>
              <a:rPr>
                <a:solidFill>
                  <a:srgbClr val="94A3B8"/>
                </a:solidFill>
              </a:rPr>
              <a:t> Re-phrase prior prompts; automatically truncates and regenerates subsequent turns.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Single-Click Deletion:</a:t>
            </a:r>
            <a:r>
              <a:rPr>
                <a:solidFill>
                  <a:srgbClr val="94A3B8"/>
                </a:solidFill>
              </a:rPr>
              <a:t> Delete individual messages or entire chat threads with instant UI update.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Session Lock During Ingestion:</a:t>
            </a:r>
            <a:r>
              <a:rPr>
                <a:solidFill>
                  <a:srgbClr val="94A3B8"/>
                </a:solidFill>
              </a:rPr>
              <a:t> Smooth UX prevents accidental race conditions during data sync.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Modern Pure-Python Interface (FastHTML + MonsterUI)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Zero-JavaScript development stack providing responsive, real-time reactive user experiences.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6636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0916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[TAB 1: INGESTION] Tab 1: Ingest Sources Dashboard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Multi-Source Selector:</a:t>
            </a:r>
            <a:r>
              <a:rPr>
                <a:solidFill>
                  <a:srgbClr val="94A3B8"/>
                </a:solidFill>
              </a:rPr>
              <a:t> Radio buttons and input forms for GitHub, Azure DevOps, and Confluence.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Server-Sent Events (SSE):</a:t>
            </a:r>
            <a:r>
              <a:rPr>
                <a:solidFill>
                  <a:srgbClr val="94A3B8"/>
                </a:solidFill>
              </a:rPr>
              <a:t> Live progress bar displaying percentage completion (0% -&gt; 100%).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Stage Status Indicators:</a:t>
            </a:r>
            <a:r>
              <a:rPr>
                <a:solidFill>
                  <a:srgbClr val="94A3B8"/>
                </a:solidFill>
              </a:rPr>
              <a:t> Visual progress badges ('Cloning Repo', 'Parsing AST', 'Generating Embeddings').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Terminal Log Stream:</a:t>
            </a:r>
            <a:r>
              <a:rPr>
                <a:solidFill>
                  <a:srgbClr val="94A3B8"/>
                </a:solidFill>
              </a:rPr>
              <a:t> Real-time scrolling output log showing files processed and chunks indexed.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Knowledge Base Metrics:</a:t>
            </a:r>
            <a:r>
              <a:rPr>
                <a:solidFill>
                  <a:srgbClr val="94A3B8"/>
                </a:solidFill>
              </a:rPr>
              <a:t> Dynamic KPI cards displaying total documents, chunks, and storage size.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Concurrency Protection:</a:t>
            </a:r>
            <a:r>
              <a:rPr>
                <a:solidFill>
                  <a:srgbClr val="94A3B8"/>
                </a:solidFill>
              </a:rPr>
              <a:t> Tab switching is cleanly locked during active ingestion to prevent state corruption.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45920"/>
            <a:ext cx="516636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70916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Segoe UI"/>
              </a:defRPr>
            </a:pPr>
            <a:r>
              <a:t>[TAB 2: CHATBOT] Tab 2: Ask Chatbot Interface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Token-by-Token Streaming:</a:t>
            </a:r>
            <a:r>
              <a:rPr>
                <a:solidFill>
                  <a:srgbClr val="94A3B8"/>
                </a:solidFill>
              </a:rPr>
              <a:t> Ultra-low latency responses stream directly into user chat bubbles.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Collapsible Citations:</a:t>
            </a:r>
            <a:r>
              <a:rPr>
                <a:solidFill>
                  <a:srgbClr val="94A3B8"/>
                </a:solidFill>
              </a:rPr>
              <a:t> Interactive MonsterUI drawers reveal source documents, line numbers, and scores.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Scoped Metadata Filters:</a:t>
            </a:r>
            <a:r>
              <a:rPr>
                <a:solidFill>
                  <a:srgbClr val="94A3B8"/>
                </a:solidFill>
              </a:rPr>
              <a:t> Dropdown filters to constrain search by repository, file type, or sprint.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Dark Mode Aesthetics:</a:t>
            </a:r>
            <a:r>
              <a:rPr>
                <a:solidFill>
                  <a:srgbClr val="94A3B8"/>
                </a:solidFill>
              </a:rPr>
              <a:t> Professional dark theme with crisp typography and responsive layouts.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Pure Python Architecture:</a:t>
            </a:r>
            <a:r>
              <a:rPr>
                <a:solidFill>
                  <a:srgbClr val="94A3B8"/>
                </a:solidFill>
              </a:rPr>
              <a:t> Built entirely with FastHTML components; no React/Webpack/Node required.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Keyboard Shortcuts:</a:t>
            </a:r>
            <a:r>
              <a:rPr>
                <a:solidFill>
                  <a:srgbClr val="94A3B8"/>
                </a:solidFill>
              </a:rPr>
              <a:t> Command/Ctrl+Enter for instant message dispatch and smooth auto-scrolling.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CLI &amp; TOOLING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Headless Automation &amp; Command-Line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Comprehensive command-line tooling for CI/CD scripting, batch indexing, and administrative health checks.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6636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0916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[HEALTH CHECK] python cli.py health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Verifies Ollama connectivity on localhost:</a:t>
            </a:r>
            <a:r>
              <a:rPr>
                <a:solidFill>
                  <a:srgbClr val="94A3B8"/>
                </a:solidFill>
              </a:rPr>
              <a:t>11434.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>
                <a:solidFill>
                  <a:srgbClr val="94A3B8"/>
                </a:solidFill>
              </a:rPr>
              <a:t>• Checks availability of nomic-embed-text and llama3.1 models.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>
                <a:solidFill>
                  <a:srgbClr val="94A3B8"/>
                </a:solidFill>
              </a:rPr>
              <a:t>• Validates DuckDB file permissions and schema integrity.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>
                <a:solidFill>
                  <a:srgbClr val="94A3B8"/>
                </a:solidFill>
              </a:rPr>
              <a:t>• Reports available system RAM and Low-RAM mode status.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45920"/>
            <a:ext cx="516636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70916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Segoe UI"/>
              </a:defRPr>
            </a:pPr>
            <a:r>
              <a:t>[BATCH INGEST] python cli.py ingest &lt;source&gt;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>
                <a:solidFill>
                  <a:srgbClr val="94A3B8"/>
                </a:solidFill>
              </a:rPr>
              <a:t>• Headless source ingestion for CI/CD scheduled pipelines.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>
                <a:solidFill>
                  <a:srgbClr val="94A3B8"/>
                </a:solidFill>
              </a:rPr>
              <a:t>• Supports --source github, --source ado, and --source confluence.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>
                <a:solidFill>
                  <a:srgbClr val="94A3B8"/>
                </a:solidFill>
              </a:rPr>
              <a:t>• Accepts --branch, --depth, and --repo-path flags.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>
                <a:solidFill>
                  <a:srgbClr val="94A3B8"/>
                </a:solidFill>
              </a:rPr>
              <a:t>• Outputs structured JSON logs for pipeline monitoring.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16636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97680"/>
            <a:ext cx="470916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A78BFA"/>
                </a:solidFill>
                <a:latin typeface="Segoe UI"/>
              </a:defRPr>
            </a:pPr>
            <a:r>
              <a:t>[TERMINAL QUERY] python cli.py query "&lt;prompt&gt;"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>
                <a:solidFill>
                  <a:srgbClr val="94A3B8"/>
                </a:solidFill>
              </a:rPr>
              <a:t>• Headless terminal RAG query execution without launching browser.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>
                <a:solidFill>
                  <a:srgbClr val="94A3B8"/>
                </a:solidFill>
              </a:rPr>
              <a:t>• Performs hybrid retrieval, re-ranking, and local LLM generation.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>
                <a:solidFill>
                  <a:srgbClr val="94A3B8"/>
                </a:solidFill>
              </a:rPr>
              <a:t>• Outputs terminal-formatted answer with full citation list.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>
                <a:solidFill>
                  <a:srgbClr val="94A3B8"/>
                </a:solidFill>
              </a:rPr>
              <a:t>• Supports --top-k and --source-filter CLI arguments.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4114800"/>
            <a:ext cx="516636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297680"/>
            <a:ext cx="470916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Segoe UI"/>
              </a:defRPr>
            </a:pPr>
            <a:r>
              <a:t>[ADMIN STATS] python cli.py stats &amp; models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cli.py stats:</a:t>
            </a:r>
            <a:r>
              <a:rPr>
                <a:solidFill>
                  <a:srgbClr val="94A3B8"/>
                </a:solidFill>
              </a:rPr>
              <a:t> Reports total indexed documents, chunks, and storage size.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cli.py models:</a:t>
            </a:r>
            <a:r>
              <a:rPr>
                <a:solidFill>
                  <a:srgbClr val="94A3B8"/>
                </a:solidFill>
              </a:rPr>
              <a:t> Lists installed local models and RAM consumption.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>
                <a:solidFill>
                  <a:srgbClr val="94A3B8"/>
                </a:solidFill>
              </a:rPr>
              <a:t>• Automated index pruning and database vacuum support.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Zero GUI dependency:</a:t>
            </a:r>
            <a:r>
              <a:rPr>
                <a:solidFill>
                  <a:srgbClr val="94A3B8"/>
                </a:solidFill>
              </a:rPr>
              <a:t> Fully functional in headless Linux/Windows environments.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Rigorous Automated Testing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Ensuring zero regression, rock-solid stability, and strict air-gapped compliance.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4D399"/>
                </a:solidFill>
                <a:latin typeface="Segoe UI"/>
              </a:defRPr>
            </a:pPr>
            <a:r>
              <a:t>35 / 35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Passing Tests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Comprehensive test suite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7288" y="1645920"/>
            <a:ext cx="24688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0168" y="178308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100%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Offline Enforced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Zero outbound network calls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1645920"/>
            <a:ext cx="24688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5936" y="178308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A78BFA"/>
                </a:solidFill>
                <a:latin typeface="Segoe UI"/>
              </a:defRPr>
            </a:pPr>
            <a:r>
              <a:t>&lt; 30s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Full Suite Runtime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Fast local unittest execution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78824" y="1645920"/>
            <a:ext cx="24688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61704" y="178308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BBF24"/>
                </a:solidFill>
                <a:latin typeface="Segoe UI"/>
              </a:defRPr>
            </a:pPr>
            <a:r>
              <a:t>0 Concurrency Bugs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RLock Protected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Thread-safe DuckDB operations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34640"/>
            <a:ext cx="5166360" cy="3474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017520"/>
            <a:ext cx="470916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[UNIT &amp; INTEGRATION] Automated Test Suite Coverage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test_duckdb_store.py:</a:t>
            </a:r>
            <a:r>
              <a:rPr>
                <a:solidFill>
                  <a:srgbClr val="94A3B8"/>
                </a:solidFill>
              </a:rPr>
              <a:t> Validates table creation, vector similarity, RLock concurrency, and CRUD.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test_chunking.py:</a:t>
            </a:r>
            <a:r>
              <a:rPr>
                <a:solidFill>
                  <a:srgbClr val="94A3B8"/>
                </a:solidFill>
              </a:rPr>
              <a:t> Tests AST function/class extraction, docstring preservation, and token budgets.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test_hybrid_search.py:</a:t>
            </a:r>
            <a:r>
              <a:rPr>
                <a:solidFill>
                  <a:srgbClr val="94A3B8"/>
                </a:solidFill>
              </a:rPr>
              <a:t> Validates RRF reciprocal rank fusion math, BM25 keyword matching, and filtering.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test_chat_persistence.py:</a:t>
            </a:r>
            <a:r>
              <a:rPr>
                <a:solidFill>
                  <a:srgbClr val="94A3B8"/>
                </a:solidFill>
              </a:rPr>
              <a:t> Verifies session creation, message ordering, deletion, and sliding-window context.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test_ingestion_api.py:</a:t>
            </a:r>
            <a:r>
              <a:rPr>
                <a:solidFill>
                  <a:srgbClr val="94A3B8"/>
                </a:solidFill>
              </a:rPr>
              <a:t> End-to-end API integration tests for SSE streaming and status routes.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834640"/>
            <a:ext cx="5166360" cy="3474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017520"/>
            <a:ext cx="470916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Segoe UI"/>
              </a:defRPr>
            </a:pPr>
            <a:r>
              <a:t>[COMPLIANCE] Reliability &amp; Compliance Guardrails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Zero-Telemetry Enforcement:</a:t>
            </a:r>
            <a:r>
              <a:rPr>
                <a:solidFill>
                  <a:srgbClr val="94A3B8"/>
                </a:solidFill>
              </a:rPr>
              <a:t> Validates HF_HUB_OFFLINE=1 and TRANSFORMERS_OFFLINE=1 on startup.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Mocked External Adapters:</a:t>
            </a:r>
            <a:r>
              <a:rPr>
                <a:solidFill>
                  <a:srgbClr val="94A3B8"/>
                </a:solidFill>
              </a:rPr>
              <a:t> Test suite executes completely offline without requiring live GitHub/ADO credentials.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Graceful Fallbacks:</a:t>
            </a:r>
            <a:r>
              <a:rPr>
                <a:solidFill>
                  <a:srgbClr val="94A3B8"/>
                </a:solidFill>
              </a:rPr>
              <a:t> In the event of Ollama timeout, pipeline gracefully degrades with informative UI alerts.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Memory Bounding:</a:t>
            </a:r>
            <a:r>
              <a:rPr>
                <a:solidFill>
                  <a:srgbClr val="94A3B8"/>
                </a:solidFill>
              </a:rPr>
              <a:t> Validates PRAGMA max_memory='2GB' actively curbs DuckDB allocation.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Windows Execution Alias Immunity:</a:t>
            </a:r>
            <a:r>
              <a:rPr>
                <a:solidFill>
                  <a:srgbClr val="94A3B8"/>
                </a:solidFill>
              </a:rPr>
              <a:t> Architecture relies on native Python packaging, immune to WindowsApps bugs.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CONCLUSION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Key Achievements &amp; Future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 complete, confidential, production-ready enterprise RAG solution running entirely on your laptop.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6636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0916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Segoe UI"/>
              </a:defRPr>
            </a:pPr>
            <a:r>
              <a:t>[ACCOMPLISHMENTS] Key Deliverables Accomplished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100% Confidential &amp; Air-Gapped:</a:t>
            </a:r>
            <a:r>
              <a:rPr>
                <a:solidFill>
                  <a:srgbClr val="94A3B8"/>
                </a:solidFill>
              </a:rPr>
              <a:t> Zero data sent to cloud AI APIs; absolute privacy for intellectual property.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Hardware-Optimized for 16 GB RAM:</a:t>
            </a:r>
            <a:r>
              <a:rPr>
                <a:solidFill>
                  <a:srgbClr val="94A3B8"/>
                </a:solidFill>
              </a:rPr>
              <a:t> Single FastHTML process + DuckDB + FlashRank + Ollama keep-alive.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Enterprise Connectors:</a:t>
            </a:r>
            <a:r>
              <a:rPr>
                <a:solidFill>
                  <a:srgbClr val="94A3B8"/>
                </a:solidFill>
              </a:rPr>
              <a:t> Automated ingestion across GitHub, Azure DevOps, and Confluence.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High-Precision Hybrid Retrieval:</a:t>
            </a:r>
            <a:r>
              <a:rPr>
                <a:solidFill>
                  <a:srgbClr val="94A3B8"/>
                </a:solidFill>
              </a:rPr>
              <a:t> Dense cosine + BM25 keyword search fused via RRF (k=60) + FlashRank.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Multi-Session Persistent Chat:</a:t>
            </a:r>
            <a:r>
              <a:rPr>
                <a:solidFill>
                  <a:srgbClr val="94A3B8"/>
                </a:solidFill>
              </a:rPr>
              <a:t> Full conversation history, sliding context, inline message editing, and deletion.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35/35 Automated Tests Passing:</a:t>
            </a:r>
            <a:r>
              <a:rPr>
                <a:solidFill>
                  <a:srgbClr val="94A3B8"/>
                </a:solidFill>
              </a:rPr>
              <a:t> Battle-tested code base verified for stability and performance.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45920"/>
            <a:ext cx="516636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70916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[FUTURE ROADMAP] Future Engineering Roadmap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Local Code Graph (Tree-Sitter / LSIF):</a:t>
            </a:r>
            <a:r>
              <a:rPr>
                <a:solidFill>
                  <a:srgbClr val="94A3B8"/>
                </a:solidFill>
              </a:rPr>
              <a:t> Deeper cross-file symbol resolution and call graph traversal.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Multi-Modal Document Parsing:</a:t>
            </a:r>
            <a:r>
              <a:rPr>
                <a:solidFill>
                  <a:srgbClr val="94A3B8"/>
                </a:solidFill>
              </a:rPr>
              <a:t> On-device OCR for architecture diagrams, flowcharts, and screenshots.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Agentic Multi-Step Reasoning:</a:t>
            </a:r>
            <a:r>
              <a:rPr>
                <a:solidFill>
                  <a:srgbClr val="94A3B8"/>
                </a:solidFill>
              </a:rPr>
              <a:t> Tool-calling via toolslm for multi-query decomposition and synthesis.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Automated Sprint Briefings:</a:t>
            </a:r>
            <a:r>
              <a:rPr>
                <a:solidFill>
                  <a:srgbClr val="94A3B8"/>
                </a:solidFill>
              </a:rPr>
              <a:t> Pre-computed daily sprint summaries generated offline overnight.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Enterprise Role-Based Access:</a:t>
            </a:r>
            <a:r>
              <a:rPr>
                <a:solidFill>
                  <a:srgbClr val="94A3B8"/>
                </a:solidFill>
              </a:rPr>
              <a:t> Ingestion-level permission filtering honoring ADO and Confluence ACLs.</a:t>
            </a:r>
          </a:p>
          <a:p>
            <a:pPr>
              <a:spcBef>
                <a:spcPts val="600"/>
              </a:spcBef>
              <a:defRPr sz="1050"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• One-Click Executable Installer:</a:t>
            </a:r>
            <a:r>
              <a:rPr>
                <a:solidFill>
                  <a:srgbClr val="94A3B8"/>
                </a:solidFill>
              </a:rPr>
              <a:t> Native Windows installer with bundled portable Ollama runtime.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